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3"/>
  </p:notesMasterIdLst>
  <p:handoutMasterIdLst>
    <p:handoutMasterId r:id="rId14"/>
  </p:handoutMasterIdLst>
  <p:sldIdLst>
    <p:sldId id="312" r:id="rId5"/>
    <p:sldId id="324" r:id="rId6"/>
    <p:sldId id="304" r:id="rId7"/>
    <p:sldId id="325" r:id="rId8"/>
    <p:sldId id="326" r:id="rId9"/>
    <p:sldId id="327" r:id="rId10"/>
    <p:sldId id="328" r:id="rId11"/>
    <p:sldId id="297" r:id="rId12"/>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napToObjects="1">
      <p:cViewPr varScale="1">
        <p:scale>
          <a:sx n="80" d="100"/>
          <a:sy n="80" d="100"/>
        </p:scale>
        <p:origin x="58" y="158"/>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C166D-BDD8-EE5D-A426-876222B284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A8FB25-FC01-2463-4BD2-48CEA3DD1338}"/>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EE87AD4-AB3F-31FD-BC18-8E4050087F08}"/>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081697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31860-DEBB-3B0C-7FDC-EA0CC8F1F4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D294E2-B774-5E64-A24F-6510AB414AE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91D2544-093A-3E0C-8082-E356FDF6B278}"/>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63559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93021-A19F-0243-3F77-C5A6C9214E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B88961-4AAC-0FE6-DF8B-E4D3E5018C9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E08DBAE-014B-8F1F-6B90-445AA27A1EF0}"/>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68213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8D77F-B23E-219D-57EF-037A7BC5B5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E023C6-29C1-2492-7A31-AE5C5B6A6C68}"/>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4B3655F-2D48-CABF-DCD1-CF72A82B14C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21406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0EFF1-9902-D33F-DD30-CB121EB43C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8CD336-3F22-35FF-2608-7982DBAA8EE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A477023-BFE2-652F-67B2-494FE4B6976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264305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Diabetes prediction analysis</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FFA5103-B97F-38D9-567A-939A5A5181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CC746D-2C40-163A-C9DA-7A75DA08FD2D}"/>
              </a:ext>
            </a:extLst>
          </p:cNvPr>
          <p:cNvSpPr>
            <a:spLocks noGrp="1"/>
          </p:cNvSpPr>
          <p:nvPr>
            <p:ph type="title"/>
          </p:nvPr>
        </p:nvSpPr>
        <p:spPr>
          <a:xfrm>
            <a:off x="914400" y="266699"/>
            <a:ext cx="6743700" cy="1531357"/>
          </a:xfrm>
        </p:spPr>
        <p:txBody>
          <a:bodyPr/>
          <a:lstStyle/>
          <a:p>
            <a:r>
              <a:rPr lang="en-US" dirty="0"/>
              <a:t>Abstract</a:t>
            </a:r>
          </a:p>
        </p:txBody>
      </p:sp>
      <p:sp>
        <p:nvSpPr>
          <p:cNvPr id="4" name="Slide Number Placeholder 3">
            <a:extLst>
              <a:ext uri="{FF2B5EF4-FFF2-40B4-BE49-F238E27FC236}">
                <a16:creationId xmlns:a16="http://schemas.microsoft.com/office/drawing/2014/main" id="{DEBE2B03-4891-BE3B-0CF7-8B551202DEF4}"/>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
        <p:nvSpPr>
          <p:cNvPr id="5" name="Rectangle 1">
            <a:extLst>
              <a:ext uri="{FF2B5EF4-FFF2-40B4-BE49-F238E27FC236}">
                <a16:creationId xmlns:a16="http://schemas.microsoft.com/office/drawing/2014/main" id="{30CCE767-2070-AB20-0F4E-7ECB56B50EE5}"/>
              </a:ext>
            </a:extLst>
          </p:cNvPr>
          <p:cNvSpPr>
            <a:spLocks noGrp="1" noChangeArrowheads="1"/>
          </p:cNvSpPr>
          <p:nvPr>
            <p:ph idx="1"/>
          </p:nvPr>
        </p:nvSpPr>
        <p:spPr bwMode="auto">
          <a:xfrm>
            <a:off x="914400" y="2444869"/>
            <a:ext cx="10012680" cy="3360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solidFill>
                  <a:schemeClr val="tx1"/>
                </a:solidFill>
              </a:rPr>
              <a:t>	This project analyzes diabetes-related health data using Power BI to identify patterns and risk factors such as BMI, blood glucose level, HbA1c level, age, gender, smoking history, heart disease, and hypertension. An interactive dashboard was created to visualize these factors and identify high-risk groups, helping in better understanding and data-driven healthcare insights.</a:t>
            </a:r>
          </a:p>
        </p:txBody>
      </p:sp>
    </p:spTree>
    <p:extLst>
      <p:ext uri="{BB962C8B-B14F-4D97-AF65-F5344CB8AC3E}">
        <p14:creationId xmlns:p14="http://schemas.microsoft.com/office/powerpoint/2010/main" val="1989461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619124"/>
            <a:ext cx="6743700" cy="1531357"/>
          </a:xfrm>
        </p:spPr>
        <p:txBody>
          <a:bodyPr/>
          <a:lstStyle/>
          <a:p>
            <a:r>
              <a:rPr lang="en-US" dirty="0"/>
              <a:t>Problem Statement</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sp>
        <p:nvSpPr>
          <p:cNvPr id="5" name="Rectangle 1">
            <a:extLst>
              <a:ext uri="{FF2B5EF4-FFF2-40B4-BE49-F238E27FC236}">
                <a16:creationId xmlns:a16="http://schemas.microsoft.com/office/drawing/2014/main" id="{D54FE0E9-1D53-2B93-3685-78C2969BA866}"/>
              </a:ext>
            </a:extLst>
          </p:cNvPr>
          <p:cNvSpPr>
            <a:spLocks noGrp="1" noChangeArrowheads="1"/>
          </p:cNvSpPr>
          <p:nvPr>
            <p:ph idx="1"/>
          </p:nvPr>
        </p:nvSpPr>
        <p:spPr bwMode="auto">
          <a:xfrm>
            <a:off x="981075" y="2703592"/>
            <a:ext cx="10012680" cy="2252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solidFill>
                  <a:schemeClr val="tx1"/>
                </a:solidFill>
              </a:rPr>
              <a:t>	The problem is to analyze patient health data and identify key factors that influence diabetes occurrence. By using data visualization, the project helps detect patterns in BMI, blood glucose levels, HbA1c, age, gender, and smoking history to identify high-risk groups and support early diagnosis.</a:t>
            </a:r>
          </a:p>
        </p:txBody>
      </p:sp>
    </p:spTree>
    <p:extLst>
      <p:ext uri="{BB962C8B-B14F-4D97-AF65-F5344CB8AC3E}">
        <p14:creationId xmlns:p14="http://schemas.microsoft.com/office/powerpoint/2010/main" val="3913219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98A9213-910A-FFC6-62CA-0EBFA91B15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5653A-46AC-2E0D-6DB3-40C87199D20F}"/>
              </a:ext>
            </a:extLst>
          </p:cNvPr>
          <p:cNvSpPr>
            <a:spLocks noGrp="1"/>
          </p:cNvSpPr>
          <p:nvPr>
            <p:ph type="title"/>
          </p:nvPr>
        </p:nvSpPr>
        <p:spPr>
          <a:xfrm>
            <a:off x="914400" y="591635"/>
            <a:ext cx="5362575" cy="674106"/>
          </a:xfrm>
        </p:spPr>
        <p:txBody>
          <a:bodyPr/>
          <a:lstStyle/>
          <a:p>
            <a:r>
              <a:rPr lang="en-US" dirty="0"/>
              <a:t>DATASET OVERVIEW</a:t>
            </a:r>
          </a:p>
        </p:txBody>
      </p:sp>
      <p:sp>
        <p:nvSpPr>
          <p:cNvPr id="4" name="Slide Number Placeholder 3">
            <a:extLst>
              <a:ext uri="{FF2B5EF4-FFF2-40B4-BE49-F238E27FC236}">
                <a16:creationId xmlns:a16="http://schemas.microsoft.com/office/drawing/2014/main" id="{3D75243E-7378-5367-E3A9-2E0B4131D810}"/>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4</a:t>
            </a:fld>
            <a:endParaRPr lang="en-US" dirty="0"/>
          </a:p>
        </p:txBody>
      </p:sp>
      <p:sp>
        <p:nvSpPr>
          <p:cNvPr id="5" name="Rectangle 1">
            <a:extLst>
              <a:ext uri="{FF2B5EF4-FFF2-40B4-BE49-F238E27FC236}">
                <a16:creationId xmlns:a16="http://schemas.microsoft.com/office/drawing/2014/main" id="{FB954EB9-D473-0596-90B7-E9D4021F87E2}"/>
              </a:ext>
            </a:extLst>
          </p:cNvPr>
          <p:cNvSpPr>
            <a:spLocks noGrp="1" noChangeArrowheads="1"/>
          </p:cNvSpPr>
          <p:nvPr>
            <p:ph idx="1"/>
          </p:nvPr>
        </p:nvSpPr>
        <p:spPr bwMode="auto">
          <a:xfrm>
            <a:off x="767551" y="1739245"/>
            <a:ext cx="10658475" cy="3914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buFont typeface="Arial" panose="020B0604020202020204" pitchFamily="34" charset="0"/>
              <a:buChar char="•"/>
            </a:pPr>
            <a:r>
              <a:rPr lang="en-US" dirty="0">
                <a:solidFill>
                  <a:schemeClr val="tx1"/>
                </a:solidFill>
              </a:rPr>
              <a:t>The dataset contains 20,000 patient records related to diabetes health indicators. </a:t>
            </a:r>
          </a:p>
          <a:p>
            <a:pPr marL="342900" indent="-342900" algn="just">
              <a:buFont typeface="Arial" panose="020B0604020202020204" pitchFamily="34" charset="0"/>
              <a:buChar char="•"/>
            </a:pPr>
            <a:r>
              <a:rPr lang="en-US" dirty="0">
                <a:solidFill>
                  <a:schemeClr val="tx1"/>
                </a:solidFill>
              </a:rPr>
              <a:t>Each record represents one individual with demographic and medical details. </a:t>
            </a:r>
          </a:p>
          <a:p>
            <a:pPr marL="342900" indent="-342900" algn="just">
              <a:buFont typeface="Arial" panose="020B0604020202020204" pitchFamily="34" charset="0"/>
              <a:buChar char="•"/>
            </a:pPr>
            <a:r>
              <a:rPr lang="en-US" dirty="0">
                <a:solidFill>
                  <a:schemeClr val="tx1"/>
                </a:solidFill>
              </a:rPr>
              <a:t>The dataset includes multiple factors that influence diabetes risk. </a:t>
            </a:r>
          </a:p>
          <a:p>
            <a:pPr marL="342900" indent="-342900" algn="just">
              <a:buFont typeface="Arial" panose="020B0604020202020204" pitchFamily="34" charset="0"/>
              <a:buChar char="•"/>
            </a:pPr>
            <a:r>
              <a:rPr lang="en-US" dirty="0">
                <a:solidFill>
                  <a:schemeClr val="tx1"/>
                </a:solidFill>
              </a:rPr>
              <a:t>It helps analyze the relationship between lifestyle, medical conditions, and diabetes occurrence. </a:t>
            </a:r>
          </a:p>
          <a:p>
            <a:pPr marL="342900" indent="-342900" algn="just">
              <a:buFont typeface="Arial" panose="020B0604020202020204" pitchFamily="34" charset="0"/>
              <a:buChar char="•"/>
            </a:pPr>
            <a:r>
              <a:rPr lang="en-US" dirty="0">
                <a:solidFill>
                  <a:schemeClr val="tx1"/>
                </a:solidFill>
              </a:rPr>
              <a:t>The data is used to build interactive visualizations and insights using Power BI. </a:t>
            </a:r>
          </a:p>
        </p:txBody>
      </p:sp>
    </p:spTree>
    <p:extLst>
      <p:ext uri="{BB962C8B-B14F-4D97-AF65-F5344CB8AC3E}">
        <p14:creationId xmlns:p14="http://schemas.microsoft.com/office/powerpoint/2010/main" val="2289134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FAD96AA-47B2-A429-607B-BDBB71B36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F98D4E-F50E-773F-F753-ACFECB744C6C}"/>
              </a:ext>
            </a:extLst>
          </p:cNvPr>
          <p:cNvSpPr>
            <a:spLocks noGrp="1"/>
          </p:cNvSpPr>
          <p:nvPr>
            <p:ph type="title"/>
          </p:nvPr>
        </p:nvSpPr>
        <p:spPr>
          <a:xfrm>
            <a:off x="609600" y="178382"/>
            <a:ext cx="5362575" cy="674106"/>
          </a:xfrm>
        </p:spPr>
        <p:txBody>
          <a:bodyPr/>
          <a:lstStyle/>
          <a:p>
            <a:r>
              <a:rPr lang="en-US" dirty="0"/>
              <a:t>DASHBOARD</a:t>
            </a:r>
          </a:p>
        </p:txBody>
      </p:sp>
      <p:sp>
        <p:nvSpPr>
          <p:cNvPr id="4" name="Slide Number Placeholder 3">
            <a:extLst>
              <a:ext uri="{FF2B5EF4-FFF2-40B4-BE49-F238E27FC236}">
                <a16:creationId xmlns:a16="http://schemas.microsoft.com/office/drawing/2014/main" id="{BCB63A74-D20C-7B5C-53B3-042D0279D15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pic>
        <p:nvPicPr>
          <p:cNvPr id="6" name="Content Placeholder 5">
            <a:extLst>
              <a:ext uri="{FF2B5EF4-FFF2-40B4-BE49-F238E27FC236}">
                <a16:creationId xmlns:a16="http://schemas.microsoft.com/office/drawing/2014/main" id="{097A444A-50DF-5F7D-F4E4-EAA984286C72}"/>
              </a:ext>
            </a:extLst>
          </p:cNvPr>
          <p:cNvPicPr>
            <a:picLocks noGrp="1" noChangeAspect="1"/>
          </p:cNvPicPr>
          <p:nvPr>
            <p:ph idx="1"/>
          </p:nvPr>
        </p:nvPicPr>
        <p:blipFill>
          <a:blip r:embed="rId3"/>
          <a:stretch>
            <a:fillRect/>
          </a:stretch>
        </p:blipFill>
        <p:spPr bwMode="auto">
          <a:xfrm>
            <a:off x="765974" y="901629"/>
            <a:ext cx="10417081" cy="5777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7780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D1E6015-E89B-CB20-A253-0D6E830E6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E498E-490A-AB3C-D85E-6916B23F5E0F}"/>
              </a:ext>
            </a:extLst>
          </p:cNvPr>
          <p:cNvSpPr>
            <a:spLocks noGrp="1"/>
          </p:cNvSpPr>
          <p:nvPr>
            <p:ph type="title"/>
          </p:nvPr>
        </p:nvSpPr>
        <p:spPr>
          <a:xfrm>
            <a:off x="914400" y="591635"/>
            <a:ext cx="7324725" cy="674106"/>
          </a:xfrm>
        </p:spPr>
        <p:txBody>
          <a:bodyPr/>
          <a:lstStyle/>
          <a:p>
            <a:r>
              <a:rPr lang="en-US" dirty="0"/>
              <a:t>Prediction and analysis</a:t>
            </a:r>
          </a:p>
        </p:txBody>
      </p:sp>
      <p:sp>
        <p:nvSpPr>
          <p:cNvPr id="4" name="Slide Number Placeholder 3">
            <a:extLst>
              <a:ext uri="{FF2B5EF4-FFF2-40B4-BE49-F238E27FC236}">
                <a16:creationId xmlns:a16="http://schemas.microsoft.com/office/drawing/2014/main" id="{FCF6267F-AD22-FF45-41BA-DAF116F6000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6</a:t>
            </a:fld>
            <a:endParaRPr lang="en-US" dirty="0"/>
          </a:p>
        </p:txBody>
      </p:sp>
      <p:sp>
        <p:nvSpPr>
          <p:cNvPr id="5" name="Rectangle 1">
            <a:extLst>
              <a:ext uri="{FF2B5EF4-FFF2-40B4-BE49-F238E27FC236}">
                <a16:creationId xmlns:a16="http://schemas.microsoft.com/office/drawing/2014/main" id="{AC74CBE8-D369-8544-AEE2-81D94C1980D1}"/>
              </a:ext>
            </a:extLst>
          </p:cNvPr>
          <p:cNvSpPr>
            <a:spLocks noGrp="1" noChangeArrowheads="1"/>
          </p:cNvSpPr>
          <p:nvPr>
            <p:ph idx="1"/>
          </p:nvPr>
        </p:nvSpPr>
        <p:spPr bwMode="auto">
          <a:xfrm>
            <a:off x="767551" y="1835269"/>
            <a:ext cx="10658475" cy="3360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dirty="0">
                <a:solidFill>
                  <a:schemeClr val="tx1"/>
                </a:solidFill>
              </a:rPr>
              <a:t>Analyzed patient health data to identify patterns related to diabetes occurrence.</a:t>
            </a:r>
          </a:p>
          <a:p>
            <a:pPr marL="342900" indent="-342900">
              <a:buFont typeface="Arial" panose="020B0604020202020204" pitchFamily="34" charset="0"/>
              <a:buChar char="•"/>
            </a:pPr>
            <a:r>
              <a:rPr lang="en-US" dirty="0">
                <a:solidFill>
                  <a:schemeClr val="tx1"/>
                </a:solidFill>
              </a:rPr>
              <a:t>Examined key factors like BMI, Blood Glucose, HbA1c, Age, Smoking History, Hypertension, and Heart Disease.</a:t>
            </a:r>
          </a:p>
          <a:p>
            <a:pPr marL="342900" indent="-342900">
              <a:buFont typeface="Arial" panose="020B0604020202020204" pitchFamily="34" charset="0"/>
              <a:buChar char="•"/>
            </a:pPr>
            <a:r>
              <a:rPr lang="en-US" dirty="0">
                <a:solidFill>
                  <a:schemeClr val="tx1"/>
                </a:solidFill>
              </a:rPr>
              <a:t>Used Power BI dashboards and visualizations to explore relationships in the data.</a:t>
            </a:r>
          </a:p>
          <a:p>
            <a:pPr marL="342900" indent="-342900" algn="just">
              <a:buFont typeface="Arial" panose="020B0604020202020204" pitchFamily="34" charset="0"/>
              <a:buChar char="•"/>
            </a:pPr>
            <a:r>
              <a:rPr lang="en-US" dirty="0">
                <a:solidFill>
                  <a:schemeClr val="tx1"/>
                </a:solidFill>
              </a:rPr>
              <a:t>Identified high-risk groups and important contributing factors to diabetes.</a:t>
            </a:r>
          </a:p>
        </p:txBody>
      </p:sp>
    </p:spTree>
    <p:extLst>
      <p:ext uri="{BB962C8B-B14F-4D97-AF65-F5344CB8AC3E}">
        <p14:creationId xmlns:p14="http://schemas.microsoft.com/office/powerpoint/2010/main" val="2020920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13BD05E-291B-B3A3-E791-E7B63E3E92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F4CFB9-96D2-6C25-FA18-3ADFB0142554}"/>
              </a:ext>
            </a:extLst>
          </p:cNvPr>
          <p:cNvSpPr>
            <a:spLocks noGrp="1"/>
          </p:cNvSpPr>
          <p:nvPr>
            <p:ph type="title"/>
          </p:nvPr>
        </p:nvSpPr>
        <p:spPr>
          <a:xfrm>
            <a:off x="914400" y="591635"/>
            <a:ext cx="7324725" cy="674106"/>
          </a:xfrm>
        </p:spPr>
        <p:txBody>
          <a:bodyPr/>
          <a:lstStyle/>
          <a:p>
            <a:r>
              <a:rPr lang="en-US" dirty="0"/>
              <a:t>CONCLUSION</a:t>
            </a:r>
          </a:p>
        </p:txBody>
      </p:sp>
      <p:sp>
        <p:nvSpPr>
          <p:cNvPr id="4" name="Slide Number Placeholder 3">
            <a:extLst>
              <a:ext uri="{FF2B5EF4-FFF2-40B4-BE49-F238E27FC236}">
                <a16:creationId xmlns:a16="http://schemas.microsoft.com/office/drawing/2014/main" id="{A12CAF44-8C11-2FB7-1014-2B4143F6E6B0}"/>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7</a:t>
            </a:fld>
            <a:endParaRPr lang="en-US" dirty="0"/>
          </a:p>
        </p:txBody>
      </p:sp>
      <p:sp>
        <p:nvSpPr>
          <p:cNvPr id="5" name="Rectangle 1">
            <a:extLst>
              <a:ext uri="{FF2B5EF4-FFF2-40B4-BE49-F238E27FC236}">
                <a16:creationId xmlns:a16="http://schemas.microsoft.com/office/drawing/2014/main" id="{804B8562-BCE5-8EFA-424F-032A7B013706}"/>
              </a:ext>
            </a:extLst>
          </p:cNvPr>
          <p:cNvSpPr>
            <a:spLocks noGrp="1" noChangeArrowheads="1"/>
          </p:cNvSpPr>
          <p:nvPr>
            <p:ph idx="1"/>
          </p:nvPr>
        </p:nvSpPr>
        <p:spPr bwMode="auto">
          <a:xfrm>
            <a:off x="767551" y="2389266"/>
            <a:ext cx="10658475" cy="2252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dirty="0">
                <a:solidFill>
                  <a:schemeClr val="tx1"/>
                </a:solidFill>
              </a:rPr>
              <a:t>Developed an interactive dashboard for diabetes data analysis.</a:t>
            </a:r>
          </a:p>
          <a:p>
            <a:pPr marL="342900" indent="-342900">
              <a:buFont typeface="Arial" panose="020B0604020202020204" pitchFamily="34" charset="0"/>
              <a:buChar char="•"/>
            </a:pPr>
            <a:r>
              <a:rPr lang="en-US" dirty="0">
                <a:solidFill>
                  <a:schemeClr val="tx1"/>
                </a:solidFill>
              </a:rPr>
              <a:t>Simplified complex healthcare data using visual analytics.</a:t>
            </a:r>
          </a:p>
          <a:p>
            <a:pPr marL="342900" indent="-342900">
              <a:buFont typeface="Arial" panose="020B0604020202020204" pitchFamily="34" charset="0"/>
              <a:buChar char="•"/>
            </a:pPr>
            <a:r>
              <a:rPr lang="en-US" dirty="0">
                <a:solidFill>
                  <a:schemeClr val="tx1"/>
                </a:solidFill>
              </a:rPr>
              <a:t>Enabled better understanding of health indicators and disease patterns.</a:t>
            </a:r>
          </a:p>
          <a:p>
            <a:pPr marL="342900" indent="-342900">
              <a:buFont typeface="Arial" panose="020B0604020202020204" pitchFamily="34" charset="0"/>
              <a:buChar char="•"/>
            </a:pPr>
            <a:r>
              <a:rPr lang="en-US" dirty="0">
                <a:solidFill>
                  <a:schemeClr val="tx1"/>
                </a:solidFill>
              </a:rPr>
              <a:t>Demonstrated the role of data analytics in healthcare decision support.</a:t>
            </a:r>
          </a:p>
        </p:txBody>
      </p:sp>
    </p:spTree>
    <p:extLst>
      <p:ext uri="{BB962C8B-B14F-4D97-AF65-F5344CB8AC3E}">
        <p14:creationId xmlns:p14="http://schemas.microsoft.com/office/powerpoint/2010/main" val="1928851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2695575"/>
            <a:ext cx="4600574" cy="881916"/>
          </a:xfrm>
        </p:spPr>
        <p:txBody>
          <a:bodyPr/>
          <a:lstStyle/>
          <a:p>
            <a:r>
              <a:rPr lang="en-US" sz="4800" dirty="0"/>
              <a:t>Thank 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{0E059CD0-51E0-47AC-9429-6E11E00ACB51}tf78438558_win32</Template>
  <TotalTime>1815</TotalTime>
  <Words>294</Words>
  <Application>Microsoft Office PowerPoint</Application>
  <PresentationFormat>Widescreen</PresentationFormat>
  <Paragraphs>29</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Black</vt:lpstr>
      <vt:lpstr>Calibri</vt:lpstr>
      <vt:lpstr>Sabon Next LT</vt:lpstr>
      <vt:lpstr>Custom</vt:lpstr>
      <vt:lpstr>Diabetes prediction analysis</vt:lpstr>
      <vt:lpstr>Abstract</vt:lpstr>
      <vt:lpstr>Problem Statement</vt:lpstr>
      <vt:lpstr>DATASET OVERVIEW</vt:lpstr>
      <vt:lpstr>DASHBOARD</vt:lpstr>
      <vt:lpstr>Prediction and analysis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praba karan</dc:creator>
  <cp:lastModifiedBy>praba karan</cp:lastModifiedBy>
  <cp:revision>3</cp:revision>
  <dcterms:created xsi:type="dcterms:W3CDTF">2026-03-13T07:41:54Z</dcterms:created>
  <dcterms:modified xsi:type="dcterms:W3CDTF">2026-03-16T05:42:36Z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